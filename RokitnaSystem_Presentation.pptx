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שקף פתיחה. הציגו את עצמכם ואת שם המערכת.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הסבירו מה הארגון עושה ואילו בעיות עסקיות הובילו לפיתוח המערכת.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הסבירו את 3 השכבות: UI, Controllers, DBRepository.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תרשים ה-Sequence המלא. הדגישו: יצירת לקוח + יצירת משתמש בפעולה אחת.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תרשים ה-Sequence המלא. הדגישו: שמירה כפולה – DecisionLog + ChangeHistory.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תרשים ה-Sequence המלא. הדגישו: 4 קריאות DB, יצירת Report, שמירה, ייצוא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הציגו את תרשים המחלקות המלא. הסבירו כיצד DBRepository הוא שכבת נתונים משותפת.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הסבירו: הנתונים נטענים מ-DB בהפעלת המערכת. הראו SELECT * FROM users; ואת שאר הטבלאות.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ניהול זמן: ~10 דקות הדגמה. כל שלב ~90 שניות. הציגו SELECT אחרי כל דרישה. היו מוכנים למיפוי קוד↔תרשים.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שקף סיום. ענו על שאלות. היו מוכנים למיפוי מלא קוד↔תרשים לדרישה שתיבחר.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640080"/>
            <a:ext cx="2743200" cy="77724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640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</a:rPr>
              <a:t>RokitnaSystem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FFFFFF"/>
                </a:solidFill>
              </a:rPr>
              <a:t>עיצוב מערכות מידע – חלק ג׳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951"/>
                </a:solidFill>
              </a:rPr>
              <a:t>קידוד המערכת והצגתה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880360"/>
            <a:ext cx="6400800" cy="0"/>
          </a:xfrm>
          <a:prstGeom prst="ellipse">
            <a:avLst/>
          </a:prstGeom>
          <a:ln w="1270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C8D5E8"/>
                </a:solidFill>
              </a:rPr>
              <a:t>מערכת לניהול לקוחות, תיעוד החלטות וייצור דוחות לארגון אדריכלות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2560320" cy="502920"/>
          </a:xfrm>
          <a:prstGeom prst="roundRect">
            <a:avLst/>
          </a:prstGeom>
          <a:solidFill>
            <a:srgbClr val="1B2A4A"/>
          </a:solidFill>
          <a:ln w="1524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FFFFFF"/>
                </a:solidFill>
              </a:rPr>
              <a:t>דרישה 1 · ניהול לקוח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703320"/>
            <a:ext cx="2560320" cy="502920"/>
          </a:xfrm>
          <a:prstGeom prst="roundRect">
            <a:avLst/>
          </a:prstGeom>
          <a:solidFill>
            <a:srgbClr val="1B2A4A"/>
          </a:solidFill>
          <a:ln w="1524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3703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FFFFFF"/>
                </a:solidFill>
              </a:rPr>
              <a:t>דרישה 15 · החלטות מקצועיות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703320"/>
            <a:ext cx="2560320" cy="502920"/>
          </a:xfrm>
          <a:prstGeom prst="roundRect">
            <a:avLst/>
          </a:prstGeom>
          <a:solidFill>
            <a:srgbClr val="1B2A4A"/>
          </a:solidFill>
          <a:ln w="1524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703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FFFFFF"/>
                </a:solidFill>
              </a:rPr>
              <a:t>דרישה 20 · דוחות ניהוליים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הארגון והצרכים העסקיים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977639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2A4A"/>
                </a:solidFill>
              </a:rPr>
              <a:t>מי אנחנו?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417320"/>
            <a:ext cx="3749039" cy="0"/>
          </a:xfrm>
          <a:prstGeom prst="ellipse">
            <a:avLst/>
          </a:prstGeom>
          <a:ln w="762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703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</a:rPr>
              <a:t>סטודיו Rokitna – משרד אדריכלות ועיצוב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</a:rPr>
              <a:t>מנהלת פרויקטים מורכבים ורב-שלביים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</a:rPr>
              <a:t>עובדת מול לקוחות עסקיים ופרטיים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</a:rPr>
              <a:t>צוות: מנהלת משרד, אדריכלים, יועצים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200">
                <a:solidFill>
                  <a:srgbClr val="1B2A4A"/>
                </a:solidFill>
              </a:rPr>
              <a:t>מטרה: ריכוז ניהול הלקוחות במערכת אחת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05840"/>
            <a:ext cx="443484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0515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2A4A"/>
                </a:solidFill>
              </a:rPr>
              <a:t>הבעיות העסקיות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1417320"/>
            <a:ext cx="4206240" cy="0"/>
          </a:xfrm>
          <a:prstGeom prst="ellipse">
            <a:avLst/>
          </a:prstGeom>
          <a:ln w="762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50" b="0" i="0">
                <a:solidFill>
                  <a:srgbClr val="B03A2E"/>
                </a:solidFill>
              </a:rPr>
              <a:t>❌  ניהול לקוחות ידני – אקסלים ונייר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50" b="0" i="0">
                <a:solidFill>
                  <a:srgbClr val="B03A2E"/>
                </a:solidFill>
              </a:rPr>
              <a:t>❌  אין תיעוד מסודר של החלטות מקצועיות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42615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50" b="0" i="0">
                <a:solidFill>
                  <a:srgbClr val="B03A2E"/>
                </a:solidFill>
              </a:rPr>
              <a:t>❌  חוסר בדוחות ניהוליים ופיננסיים בזמן אמת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954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50" b="0" i="0">
                <a:solidFill>
                  <a:srgbClr val="B03A2E"/>
                </a:solidFill>
              </a:rPr>
              <a:t>❌  קשה לעקוב אחר סטטוס פרויקטים ותשלומים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764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50" b="1" i="0">
                <a:solidFill>
                  <a:srgbClr val="2E7D52"/>
                </a:solidFill>
              </a:rPr>
              <a:t>✅  הפתרון: מערכת מרכזית עם GUI מלא ו-DB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ארכיטקטורת המערכת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8595360" cy="1051560"/>
          </a:xfrm>
          <a:prstGeom prst="roundRect">
            <a:avLst/>
          </a:prstGeom>
          <a:solidFill>
            <a:srgbClr val="E3E5E9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10881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1B2A4A"/>
                </a:solidFill>
              </a:rPr>
              <a:t>שכבת ממשק (GUI)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90472"/>
            <a:ext cx="1874519" cy="475488"/>
          </a:xfrm>
          <a:prstGeom prst="roundRect">
            <a:avLst/>
          </a:prstGeom>
          <a:solidFill>
            <a:srgbClr val="BABFC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CustomerManagementForm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1490472"/>
            <a:ext cx="1874519" cy="475488"/>
          </a:xfrm>
          <a:prstGeom prst="roundRect">
            <a:avLst/>
          </a:prstGeom>
          <a:solidFill>
            <a:srgbClr val="BABFC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149047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DecisionManagementForm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1490472"/>
            <a:ext cx="1874519" cy="475488"/>
          </a:xfrm>
          <a:prstGeom prst="roundRect">
            <a:avLst/>
          </a:prstGeom>
          <a:solidFill>
            <a:srgbClr val="BABFC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49047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ReportDashboardForm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1384" y="1490472"/>
            <a:ext cx="1874519" cy="475488"/>
          </a:xfrm>
          <a:prstGeom prst="roundRect">
            <a:avLst/>
          </a:prstGeom>
          <a:solidFill>
            <a:srgbClr val="BABFC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49047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LoginForm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2103120"/>
            <a:ext cx="0" cy="256032"/>
          </a:xfrm>
          <a:prstGeom prst="ellipse">
            <a:avLst/>
          </a:prstGeom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" y="2331720"/>
            <a:ext cx="8595360" cy="1051560"/>
          </a:xfrm>
          <a:prstGeom prst="roundRect">
            <a:avLst/>
          </a:prstGeom>
          <a:solidFill>
            <a:srgbClr val="E5EFEA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368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2E7D52"/>
                </a:solidFill>
              </a:rPr>
              <a:t>שכבת לוגיקה (Controllers)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70632"/>
            <a:ext cx="1874519" cy="475488"/>
          </a:xfrm>
          <a:prstGeom prst="roundRect">
            <a:avLst/>
          </a:prstGeom>
          <a:solidFill>
            <a:srgbClr val="C0D8CB"/>
          </a:solidFill>
          <a:ln w="1016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7063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CustomerController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1448" y="2770632"/>
            <a:ext cx="1874519" cy="475488"/>
          </a:xfrm>
          <a:prstGeom prst="roundRect">
            <a:avLst/>
          </a:prstGeom>
          <a:solidFill>
            <a:srgbClr val="C0D8CB"/>
          </a:solidFill>
          <a:ln w="1016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277063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DecisionController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1416" y="2770632"/>
            <a:ext cx="1874519" cy="475488"/>
          </a:xfrm>
          <a:prstGeom prst="roundRect">
            <a:avLst/>
          </a:prstGeom>
          <a:solidFill>
            <a:srgbClr val="C0D8CB"/>
          </a:solidFill>
          <a:ln w="1016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277063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ReportController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1384" y="2770632"/>
            <a:ext cx="1874519" cy="475488"/>
          </a:xfrm>
          <a:prstGeom prst="roundRect">
            <a:avLst/>
          </a:prstGeom>
          <a:solidFill>
            <a:srgbClr val="C0D8CB"/>
          </a:solidFill>
          <a:ln w="1016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2770632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AuthController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3383279"/>
            <a:ext cx="0" cy="256032"/>
          </a:xfrm>
          <a:prstGeom prst="ellipse">
            <a:avLst/>
          </a:prstGeom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" y="3611880"/>
            <a:ext cx="8595360" cy="1051560"/>
          </a:xfrm>
          <a:prstGeom prst="roundRect">
            <a:avLst/>
          </a:prstGeom>
          <a:solidFill>
            <a:srgbClr val="EFE7E0"/>
          </a:solidFill>
          <a:ln w="12700">
            <a:solidFill>
              <a:srgbClr val="7B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36484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7B3F00"/>
                </a:solidFill>
              </a:rPr>
              <a:t>שכבת נתונים (DB / Repository)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050791"/>
            <a:ext cx="1874519" cy="475488"/>
          </a:xfrm>
          <a:prstGeom prst="roundRect">
            <a:avLst/>
          </a:prstGeom>
          <a:solidFill>
            <a:srgbClr val="D7C5B2"/>
          </a:solidFill>
          <a:ln w="10160">
            <a:solidFill>
              <a:srgbClr val="7B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050791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DBRepository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41448" y="4050791"/>
            <a:ext cx="1874519" cy="475488"/>
          </a:xfrm>
          <a:prstGeom prst="roundRect">
            <a:avLst/>
          </a:prstGeom>
          <a:solidFill>
            <a:srgbClr val="D7C5B2"/>
          </a:solidFill>
          <a:ln w="10160">
            <a:solidFill>
              <a:srgbClr val="7B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4050791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SQLite / SQL Express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1416" y="4050791"/>
            <a:ext cx="1874519" cy="475488"/>
          </a:xfrm>
          <a:prstGeom prst="roundRect">
            <a:avLst/>
          </a:prstGeom>
          <a:solidFill>
            <a:srgbClr val="D7C5B2"/>
          </a:solidFill>
          <a:ln w="10160">
            <a:solidFill>
              <a:srgbClr val="7B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4050791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Client / Project / User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01384" y="4050791"/>
            <a:ext cx="1874519" cy="475488"/>
          </a:xfrm>
          <a:prstGeom prst="roundRect">
            <a:avLst/>
          </a:prstGeom>
          <a:solidFill>
            <a:srgbClr val="D7C5B2"/>
          </a:solidFill>
          <a:ln w="10160">
            <a:solidFill>
              <a:srgbClr val="7B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4050791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</a:rPr>
              <a:t>DecisionLog /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דרישה 1 – ניהול לקוח דיגיטלי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 i="0">
                <a:solidFill>
                  <a:srgbClr val="C8A951"/>
                </a:solidFill>
              </a:rPr>
              <a:t>Office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20040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424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מה הדרישה עושה?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2"/>
            <a:ext cx="297180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יצירת לקוח חדש + חשבון משתמש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צפייה בתיק לקוח דיגיטלי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עדכון פרטי לקוח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קביעת פגישה ללקוח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קישור פרויקט ללקוח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עדכון סטטוס פרויקט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מחיקה / ארכיון לקוח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005840"/>
            <a:ext cx="521208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0424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תרשים Sequence – עיקרי</a:t>
            </a:r>
          </a:p>
        </p:txBody>
      </p:sp>
      <p:sp>
        <p:nvSpPr>
          <p:cNvPr id="11" name="Oval 10"/>
          <p:cNvSpPr/>
          <p:nvPr/>
        </p:nvSpPr>
        <p:spPr>
          <a:xfrm>
            <a:off x="3794760" y="1399032"/>
            <a:ext cx="49834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444752"/>
            <a:ext cx="5029200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4721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Office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4721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enterCredentials(username, password)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1755648"/>
            <a:ext cx="5029200" cy="29260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783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LoginForm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7830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login(username, password)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066544"/>
            <a:ext cx="5029200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AuthController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0939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find_user_by_username()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2377440"/>
            <a:ext cx="5029200" cy="29260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4048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AuthController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404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authenticationSuccess(role)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2688336"/>
            <a:ext cx="5029200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3048" y="2715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Office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715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openCustomerManagementForm()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7328" y="2999232"/>
            <a:ext cx="5029200" cy="29260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0266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CustomerManagementForm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026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create_client(role, name, phone, email)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3310128"/>
            <a:ext cx="5029200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3337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CustomerController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337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create_client(client) → newClientId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67328" y="3621024"/>
            <a:ext cx="5029200" cy="29260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36484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CustomerController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6484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create_user(account) → credentials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3931920"/>
            <a:ext cx="5029200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3048" y="3959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CustomerController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9593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displaySuccessMessage()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דרישה 15 – תיעוד החלטות מקצועיות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 i="0">
                <a:solidFill>
                  <a:srgbClr val="C8A951"/>
                </a:solidFill>
              </a:rPr>
              <a:t>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20040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424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מה הדרישה עושה?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2"/>
            <a:ext cx="297180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אדריכל נכנס ובוחר פרויקט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מקליד החלטה מקצועית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המערכת מאמתת הרשאה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נשמרת רשומת DecisionLog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נשמרת רשומת ChangeHistory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הצגת היסטוריית החלטות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50">
                <a:solidFill>
                  <a:srgbClr val="1B2A4A"/>
                </a:solidFill>
              </a:rPr>
              <a:t>הצגת היסטוריית שינויים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005840"/>
            <a:ext cx="521208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0424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תרשים Sequence – עיקרי</a:t>
            </a:r>
          </a:p>
        </p:txBody>
      </p:sp>
      <p:sp>
        <p:nvSpPr>
          <p:cNvPr id="11" name="Oval 10"/>
          <p:cNvSpPr/>
          <p:nvPr/>
        </p:nvSpPr>
        <p:spPr>
          <a:xfrm>
            <a:off x="3794760" y="1399032"/>
            <a:ext cx="49834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444752"/>
            <a:ext cx="5029200" cy="3154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472184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472184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login(username, password)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1778508"/>
            <a:ext cx="5029200" cy="31546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805940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AuthController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05940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find_user_by_username()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112264"/>
            <a:ext cx="5029200" cy="3154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2139696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139696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openDecisionForm()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2446020"/>
            <a:ext cx="5029200" cy="31546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473451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DecisionManagementForm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473451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list_projects(role)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2779776"/>
            <a:ext cx="5029200" cy="3154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3048" y="2807208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Architect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807208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submitDecision(project_id, text)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7328" y="3113532"/>
            <a:ext cx="5029200" cy="31546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40964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DecisionController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140964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_require_decision_permission(role)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3447288"/>
            <a:ext cx="5029200" cy="3154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3474720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DecisionController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474720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save_decision_with_history(decision, history)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67328" y="3781044"/>
            <a:ext cx="5029200" cy="31546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3808476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DBRepository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808476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&lt;&gt; DecisionLog(project_id, user_id, text)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4114800"/>
            <a:ext cx="5029200" cy="3154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3048" y="4142232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DBRepository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4142232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&lt;&gt; ChangeHistory(project_id, user_id, description)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67328" y="4448556"/>
            <a:ext cx="5029200" cy="315468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3048" y="4475988"/>
            <a:ext cx="137160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DecisionController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4475988"/>
            <a:ext cx="34747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displaySaveConfirmation(message + timestamps)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דרישה 20 – יצירת דוחות ניהוליים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 i="0">
                <a:solidFill>
                  <a:srgbClr val="C8A951"/>
                </a:solidFill>
              </a:rPr>
              <a:t>Office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20040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424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מה הדרישה עושה?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2"/>
            <a:ext cx="297180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מנהלת משרד בוחרת סוג דוח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דוח ניהולי: פרויקטים, אבני דרך, תשלומים, התראות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דוח פיננסי: תשלומים ושינויים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ולידציה של קריטריונים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שמירת הדוח ב-DB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ייצוא לקובץ CSV עם חותמת זמן</a:t>
            </a:r>
          </a:p>
          <a:p>
            <a:pPr algn="r" a:rtl="1">
              <a:buChar char="•"/>
              <a:buFont typeface="+mj-lt"/>
              <a:spcAft>
                <a:spcPts val="400"/>
              </a:spcAft>
            </a:pPr>
            <a:r>
              <a:rPr sz="1100">
                <a:solidFill>
                  <a:srgbClr val="1B2A4A"/>
                </a:solidFill>
              </a:rPr>
              <a:t>הצגת היסטוריית דוחות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005840"/>
            <a:ext cx="5212080" cy="374903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0424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50" b="1" i="0">
                <a:solidFill>
                  <a:srgbClr val="1B2A4A"/>
                </a:solidFill>
              </a:rPr>
              <a:t>תרשים Sequence – עיקרי</a:t>
            </a:r>
          </a:p>
        </p:txBody>
      </p:sp>
      <p:sp>
        <p:nvSpPr>
          <p:cNvPr id="11" name="Oval 10"/>
          <p:cNvSpPr/>
          <p:nvPr/>
        </p:nvSpPr>
        <p:spPr>
          <a:xfrm>
            <a:off x="3794760" y="1399032"/>
            <a:ext cx="49834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444752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472184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Office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47218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login(username, password)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1746504"/>
            <a:ext cx="5029200" cy="283464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773936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Office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7739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openReportsDashboard()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048256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207568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ReportDashboardForm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07568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generate_management_report(role, criteria)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2350008"/>
            <a:ext cx="5029200" cy="283464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377440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3774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require_permission(role, GENERATE_REPORTS)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2651760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3048" y="2679192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67919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_get_active_projects()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7328" y="2953512"/>
            <a:ext cx="5029200" cy="283464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2980944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8094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_get_milestones_status(project_ids)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3255264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3282696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28269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_get_payment_requests(project_ids)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67328" y="3557016"/>
            <a:ext cx="5029200" cy="283464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35844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5844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_get_project_alerts(project_ids)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3858768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3048" y="3886200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88620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&lt;&gt; Report(type=MANAGEMENT, criteria)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67328" y="4160520"/>
            <a:ext cx="5029200" cy="283464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3048" y="4187952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418795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save_report(report) → report_id + timestamp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67328" y="4462272"/>
            <a:ext cx="5029200" cy="2834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3048" y="4489704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800" b="0" i="0">
                <a:solidFill>
                  <a:srgbClr val="5A6A85"/>
                </a:solidFill>
              </a:rPr>
              <a:t>ReportController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448970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00" b="0" i="0">
                <a:solidFill>
                  <a:srgbClr val="1B2A4A"/>
                </a:solidFill>
              </a:rPr>
              <a:t>→  export_to_csv(report) → csv_path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תרשים מחלקות – 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50" b="1" i="0">
                <a:solidFill>
                  <a:srgbClr val="5A6A85"/>
                </a:solidFill>
              </a:rPr>
              <a:t>מחלקות משותפות לכל הדרישות: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16152"/>
            <a:ext cx="269748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</a:rPr>
              <a:t>User</a:t>
            </a:r>
          </a:p>
        </p:txBody>
      </p:sp>
      <p:sp>
        <p:nvSpPr>
          <p:cNvPr id="7" name="Oval 6"/>
          <p:cNvSpPr/>
          <p:nvPr/>
        </p:nvSpPr>
        <p:spPr>
          <a:xfrm>
            <a:off x="347472" y="1517904"/>
            <a:ext cx="2596896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453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85"/>
                </a:solidFill>
              </a:rPr>
              <a:t>userId, username
passwordHash, role
clientId, isActive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79" y="1216152"/>
            <a:ext cx="269748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234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</a:rPr>
              <a:t>Project</a:t>
            </a:r>
          </a:p>
        </p:txBody>
      </p:sp>
      <p:sp>
        <p:nvSpPr>
          <p:cNvPr id="11" name="Oval 10"/>
          <p:cNvSpPr/>
          <p:nvPr/>
        </p:nvSpPr>
        <p:spPr>
          <a:xfrm>
            <a:off x="3227832" y="1517904"/>
            <a:ext cx="2596896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453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85"/>
                </a:solidFill>
              </a:rPr>
              <a:t>projectId, clientId
projectName, status
createdAt, updatedAt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216152"/>
            <a:ext cx="269748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234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</a:rPr>
              <a:t>DBRepository</a:t>
            </a:r>
          </a:p>
        </p:txBody>
      </p:sp>
      <p:sp>
        <p:nvSpPr>
          <p:cNvPr id="15" name="Oval 14"/>
          <p:cNvSpPr/>
          <p:nvPr/>
        </p:nvSpPr>
        <p:spPr>
          <a:xfrm>
            <a:off x="6108192" y="1517904"/>
            <a:ext cx="2596896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545336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85"/>
                </a:solidFill>
              </a:rPr>
              <a:t>CRUD לכל הישויות
find_user_by_username
create / update /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212848"/>
            <a:ext cx="8595360" cy="804672"/>
          </a:xfrm>
          <a:prstGeom prst="roundRect">
            <a:avLst/>
          </a:prstGeom>
          <a:solidFill>
            <a:srgbClr val="E3E7E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67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1" i="0">
                <a:solidFill>
                  <a:srgbClr val="1B3A6B"/>
                </a:solidFill>
              </a:rPr>
              <a:t>דרישה 1  – ניהול לקוח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551176"/>
            <a:ext cx="1783080" cy="384048"/>
          </a:xfrm>
          <a:prstGeom prst="roundRect">
            <a:avLst/>
          </a:prstGeom>
          <a:solidFill>
            <a:srgbClr val="BAC3D2"/>
          </a:solidFill>
          <a:ln w="1016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55117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76856" y="2551176"/>
            <a:ext cx="1783080" cy="384048"/>
          </a:xfrm>
          <a:prstGeom prst="roundRect">
            <a:avLst/>
          </a:prstGeom>
          <a:solidFill>
            <a:srgbClr val="BAC3D2"/>
          </a:solidFill>
          <a:ln w="1016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6856" y="255117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Meeting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9663" y="2551176"/>
            <a:ext cx="1783080" cy="384048"/>
          </a:xfrm>
          <a:prstGeom prst="roundRect">
            <a:avLst/>
          </a:prstGeom>
          <a:solidFill>
            <a:srgbClr val="BAC3D2"/>
          </a:solidFill>
          <a:ln w="1016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3" y="255117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CustomerController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1" y="2551176"/>
            <a:ext cx="1783080" cy="384048"/>
          </a:xfrm>
          <a:prstGeom prst="roundRect">
            <a:avLst/>
          </a:prstGeom>
          <a:solidFill>
            <a:srgbClr val="BAC3D2"/>
          </a:solidFill>
          <a:ln w="1016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62471" y="255117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CustomerManagementForm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108960"/>
            <a:ext cx="8595360" cy="804672"/>
          </a:xfrm>
          <a:prstGeom prst="roundRect">
            <a:avLst/>
          </a:prstGeom>
          <a:solidFill>
            <a:srgbClr val="E5EBE7"/>
          </a:solidFill>
          <a:ln w="12700">
            <a:solidFill>
              <a:srgbClr val="2E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163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1" i="0">
                <a:solidFill>
                  <a:srgbClr val="2E5C3A"/>
                </a:solidFill>
              </a:rPr>
              <a:t>דרישה 15 – תיעוד החלטות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447288"/>
            <a:ext cx="1783080" cy="384048"/>
          </a:xfrm>
          <a:prstGeom prst="roundRect">
            <a:avLst/>
          </a:prstGeom>
          <a:solidFill>
            <a:srgbClr val="C0CEC3"/>
          </a:solidFill>
          <a:ln w="10160">
            <a:solidFill>
              <a:srgbClr val="2E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44728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DecisionLog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76856" y="3447288"/>
            <a:ext cx="1783080" cy="384048"/>
          </a:xfrm>
          <a:prstGeom prst="roundRect">
            <a:avLst/>
          </a:prstGeom>
          <a:solidFill>
            <a:srgbClr val="C0CEC3"/>
          </a:solidFill>
          <a:ln w="10160">
            <a:solidFill>
              <a:srgbClr val="2E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6856" y="344728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ChangeHistory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9663" y="3447288"/>
            <a:ext cx="1783080" cy="384048"/>
          </a:xfrm>
          <a:prstGeom prst="roundRect">
            <a:avLst/>
          </a:prstGeom>
          <a:solidFill>
            <a:srgbClr val="C0CEC3"/>
          </a:solidFill>
          <a:ln w="10160">
            <a:solidFill>
              <a:srgbClr val="2E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3" y="344728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DecisionController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62471" y="3447288"/>
            <a:ext cx="1783080" cy="384048"/>
          </a:xfrm>
          <a:prstGeom prst="roundRect">
            <a:avLst/>
          </a:prstGeom>
          <a:solidFill>
            <a:srgbClr val="C0CEC3"/>
          </a:solidFill>
          <a:ln w="10160">
            <a:solidFill>
              <a:srgbClr val="2E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2471" y="344728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DecisionManagementForm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005072"/>
            <a:ext cx="8595360" cy="804672"/>
          </a:xfrm>
          <a:prstGeom prst="roundRect">
            <a:avLst/>
          </a:prstGeom>
          <a:solidFill>
            <a:srgbClr val="EDE7E3"/>
          </a:solidFill>
          <a:ln w="1270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405993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1" i="0">
                <a:solidFill>
                  <a:srgbClr val="6B3A1B"/>
                </a:solidFill>
              </a:rPr>
              <a:t>דרישה 20 – יצירת דוחות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556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556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Milestone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272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PaymentRequest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88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Payment / Alert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04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ReportController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42048" y="4343400"/>
            <a:ext cx="1261872" cy="384048"/>
          </a:xfrm>
          <a:prstGeom prst="roundRect">
            <a:avLst/>
          </a:prstGeom>
          <a:solidFill>
            <a:srgbClr val="D2C3BA"/>
          </a:solidFill>
          <a:ln w="10160">
            <a:solidFill>
              <a:srgbClr val="6B3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42048" y="4343400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2A4A"/>
                </a:solidFill>
              </a:rPr>
              <a:t>ReportDashboardForm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נתונים ראשוניים – מבנה הדגמה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27960" cy="3794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033271"/>
            <a:ext cx="2599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1B2A4A"/>
                </a:solidFill>
              </a:rPr>
              <a:t>Users (משתמשים)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371600"/>
            <a:ext cx="25450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username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412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412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248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248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password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admin_maya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412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412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OfficeManager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248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248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hashed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arch_tal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412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412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Architect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248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248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hashed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95728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95728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client_yossi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4120" y="2395728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4120" y="2395728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2480" y="2395728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62480" y="2395728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one-time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" y="4279392"/>
            <a:ext cx="2599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A6A85"/>
                </a:solidFill>
              </a:rPr>
              <a:t>+ Milestones, Alerts, Payments, DecisionLogs…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39440" y="1005840"/>
            <a:ext cx="2727960" cy="3794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3447" y="1033271"/>
            <a:ext cx="2599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1B2A4A"/>
                </a:solidFill>
              </a:rPr>
              <a:t>Clients (לקוחות)</a:t>
            </a:r>
          </a:p>
        </p:txBody>
      </p:sp>
      <p:sp>
        <p:nvSpPr>
          <p:cNvPr id="34" name="Oval 33"/>
          <p:cNvSpPr/>
          <p:nvPr/>
        </p:nvSpPr>
        <p:spPr>
          <a:xfrm>
            <a:off x="3230880" y="1371600"/>
            <a:ext cx="25450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3088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3088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7924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7924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phone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2760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2760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3088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088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יוסי כהן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7924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924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050-1234567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2760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2760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Active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3088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3088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רחל לוי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7924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7924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052-9876543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2760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2760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Active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3447" y="4279392"/>
            <a:ext cx="2599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A6A85"/>
                </a:solidFill>
              </a:rPr>
              <a:t>+ Milestones, Alerts, Payments, DecisionLogs…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04560" y="1005840"/>
            <a:ext cx="2727960" cy="3794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68568" y="1033271"/>
            <a:ext cx="2599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1B2A4A"/>
                </a:solidFill>
              </a:rPr>
              <a:t>Projects (פרויקטים)</a:t>
            </a:r>
          </a:p>
        </p:txBody>
      </p:sp>
      <p:sp>
        <p:nvSpPr>
          <p:cNvPr id="56" name="Oval 55"/>
          <p:cNvSpPr/>
          <p:nvPr/>
        </p:nvSpPr>
        <p:spPr>
          <a:xfrm>
            <a:off x="6095999" y="1371600"/>
            <a:ext cx="2545080" cy="0"/>
          </a:xfrm>
          <a:prstGeom prst="ellipse">
            <a:avLst/>
          </a:prstGeom>
          <a:ln w="635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5999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5999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projectName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436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436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clientId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92720" y="1417320"/>
            <a:ext cx="84835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2720" y="1417320"/>
            <a:ext cx="848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5999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5999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וילה כהן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436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436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92720" y="1700784"/>
            <a:ext cx="848359" cy="329184"/>
          </a:xfrm>
          <a:prstGeom prst="rect">
            <a:avLst/>
          </a:prstGeom>
          <a:solidFill>
            <a:srgbClr val="F0F4FA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92720" y="1700784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Active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5999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95999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משרד תל-אביב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436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436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92720" y="2048256"/>
            <a:ext cx="848359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92720" y="2048256"/>
            <a:ext cx="848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0" i="0">
                <a:solidFill>
                  <a:srgbClr val="1B2A4A"/>
                </a:solidFill>
              </a:rPr>
              <a:t>OnHold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68568" y="4279392"/>
            <a:ext cx="2599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5A6A85"/>
                </a:solidFill>
              </a:rPr>
              <a:t>+ Milestones, Alerts, Payments, DecisionLogs…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 i="0">
                <a:solidFill>
                  <a:srgbClr val="FFFFFF"/>
                </a:solidFill>
              </a:rPr>
              <a:t>תוכנית ההדגמה החיה</a:t>
            </a:r>
          </a:p>
        </p:txBody>
      </p:sp>
      <p:sp>
        <p:nvSpPr>
          <p:cNvPr id="4" name="Oval 3"/>
          <p:cNvSpPr/>
          <p:nvPr/>
        </p:nvSpPr>
        <p:spPr>
          <a:xfrm>
            <a:off x="8321040" y="1078992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8321040" y="1078992"/>
            <a:ext cx="411480" cy="411480"/>
          </a:xfrm>
          <a:prstGeom prst="trapezoid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78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969264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024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כניסה למערכת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2412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Login כמנהלת משרד (OfficeManager) ← הצגת תפריט ראשי</a:t>
            </a:r>
          </a:p>
        </p:txBody>
      </p:sp>
      <p:sp>
        <p:nvSpPr>
          <p:cNvPr id="10" name="Oval 9"/>
          <p:cNvSpPr/>
          <p:nvPr/>
        </p:nvSpPr>
        <p:spPr>
          <a:xfrm>
            <a:off x="8321040" y="1746504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pezoid 10"/>
          <p:cNvSpPr/>
          <p:nvPr/>
        </p:nvSpPr>
        <p:spPr>
          <a:xfrm>
            <a:off x="8321040" y="1746504"/>
            <a:ext cx="411480" cy="411480"/>
          </a:xfrm>
          <a:prstGeom prst="trapezoid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465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1636776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דרישה 1 – יצירת לקוח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69164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יצירת לקוח חדש → הצגת פרטי לקוח → SELECT מהטבלה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1792224"/>
            <a:ext cx="1508760" cy="27432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79222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1" i="0">
                <a:solidFill>
                  <a:srgbClr val="1B2A4A"/>
                </a:solidFill>
              </a:rPr>
              <a:t>דרישה 1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2414016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8321040" y="2414016"/>
            <a:ext cx="411480" cy="411480"/>
          </a:xfrm>
          <a:prstGeom prst="trapezoid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4140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2304288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דרישה 1 – קביעת פגישה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35915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קישור פרויקט ← קביעת פגישה ← עדכון 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459736"/>
            <a:ext cx="1508760" cy="27432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45973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1" i="0">
                <a:solidFill>
                  <a:srgbClr val="1B2A4A"/>
                </a:solidFill>
              </a:rPr>
              <a:t>דרישה 1</a:t>
            </a:r>
          </a:p>
        </p:txBody>
      </p:sp>
      <p:sp>
        <p:nvSpPr>
          <p:cNvPr id="26" name="Oval 25"/>
          <p:cNvSpPr/>
          <p:nvPr/>
        </p:nvSpPr>
        <p:spPr>
          <a:xfrm>
            <a:off x="8321040" y="3081528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pezoid 26"/>
          <p:cNvSpPr/>
          <p:nvPr/>
        </p:nvSpPr>
        <p:spPr>
          <a:xfrm>
            <a:off x="8321040" y="3081528"/>
            <a:ext cx="411480" cy="411480"/>
          </a:xfrm>
          <a:prstGeom prst="trapezoid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0815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" y="2971800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3026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כניסה כאדריכל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302666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Login כ-Architect ← תפריט ראשי שונה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3749039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apezoid 32"/>
          <p:cNvSpPr/>
          <p:nvPr/>
        </p:nvSpPr>
        <p:spPr>
          <a:xfrm>
            <a:off x="8321040" y="3749039"/>
            <a:ext cx="411480" cy="411480"/>
          </a:xfrm>
          <a:prstGeom prst="trapezoid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4903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" y="3639312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36941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דרישה 15 – החלטה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69417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בחירת פרויקט → הקלדת החלטה → SELECT מ-DecisionLog + ChangeHistory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3794760"/>
            <a:ext cx="1508760" cy="27432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7947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1" i="0">
                <a:solidFill>
                  <a:srgbClr val="1B2A4A"/>
                </a:solidFill>
              </a:rPr>
              <a:t>דרישה 15</a:t>
            </a:r>
          </a:p>
        </p:txBody>
      </p:sp>
      <p:sp>
        <p:nvSpPr>
          <p:cNvPr id="40" name="Oval 39"/>
          <p:cNvSpPr/>
          <p:nvPr/>
        </p:nvSpPr>
        <p:spPr>
          <a:xfrm>
            <a:off x="8321040" y="4416552"/>
            <a:ext cx="411480" cy="4114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pezoid 40"/>
          <p:cNvSpPr/>
          <p:nvPr/>
        </p:nvSpPr>
        <p:spPr>
          <a:xfrm>
            <a:off x="8321040" y="4416552"/>
            <a:ext cx="411480" cy="411480"/>
          </a:xfrm>
          <a:prstGeom prst="trapezoid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416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" y="4306824"/>
            <a:ext cx="7909560" cy="6126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4361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1B2A4A"/>
                </a:solidFill>
              </a:rPr>
              <a:t>דרישה 20 – דוח ניהולי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436168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950" b="0" i="0">
                <a:solidFill>
                  <a:srgbClr val="5A6A85"/>
                </a:solidFill>
              </a:rPr>
              <a:t>פתיחת דוחות → ייצור דוח ניהולי → CSV → SELECT + חותמת זמן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4462272"/>
            <a:ext cx="1508760" cy="27432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4622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850" b="1" i="0">
                <a:solidFill>
                  <a:srgbClr val="1B2A4A"/>
                </a:solidFill>
              </a:rPr>
              <a:t>דרישה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A951"/>
                </a:solidFill>
              </a:rPr>
              <a:t>RokitnaSystem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 i="0">
                <a:solidFill>
                  <a:srgbClr val="C8D5E8"/>
                </a:solidFill>
              </a:rPr>
              <a:t>מערכת לניהול לקוחות, תיעוד החלטות וייצור דוחות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240280"/>
            <a:ext cx="6400800" cy="0"/>
          </a:xfrm>
          <a:prstGeom prst="ellipse">
            <a:avLst/>
          </a:prstGeom>
          <a:ln w="10160">
            <a:solidFill>
              <a:srgbClr val="C8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✅  3 דרישות ממומשות מקצה לקצה</a:t>
            </a:r>
          </a:p>
          <a:p>
            <a:pPr algn="ctr" a:rtl="1"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✅  GUI מלא עם מיתוג עקבי</a:t>
            </a:r>
          </a:p>
          <a:p>
            <a:pPr algn="ctr" a:rtl="1"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✅  התאמה מלאה לתרשימי Sequence ומחלקות</a:t>
            </a:r>
          </a:p>
          <a:p>
            <a:pPr algn="ctr" a:rtl="1"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</a:rPr>
              <a:t>✅  DB מתעדכן בזמן אמת + ייצוא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800" b="1" i="0">
                <a:solidFill>
                  <a:srgbClr val="C8A951"/>
                </a:solidFill>
              </a:rPr>
              <a:t>תודה על ההקשבה – מוכנים לשאלות!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